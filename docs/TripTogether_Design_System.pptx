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F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-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FC7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SYSTEM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011680" cy="0"/>
          </a:xfrm>
          <a:prstGeom prst="line">
            <a:avLst/>
          </a:prstGeom>
          <a:noFill/>
          <a:ln w="12700">
            <a:solidFill>
              <a:srgbClr val="3D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9144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spc="-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
</a:t>
            </a:r>
            <a:pPr indent="0" marL="0">
              <a:lnSpc>
                <a:spcPts val="5400"/>
              </a:lnSpc>
              <a:buNone/>
            </a:pPr>
            <a:r>
              <a:rPr lang="en-US" sz="5000" i="1" spc="-100" kern="0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together.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7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real, working reference — every value on the following slides is pulled directly from the app's own code.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A8A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app that plans trips, </a:t>
            </a:r>
            <a:pPr indent="0" marL="0">
              <a:buNone/>
            </a:pPr>
            <a:r>
              <a:rPr lang="en-US" sz="3200" i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together.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0879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1460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IT IS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33146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collaborative trip-planning app for groups — save ideas, discuss plans, and track a trip together in one shared space.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00144" y="2468880"/>
            <a:ext cx="0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28744" y="251460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SCREENS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28744" y="2880360"/>
            <a:ext cx="333146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Home  ·  My Trips  ·  Group Discussions  ·  Ask the AI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988808" y="2468880"/>
            <a:ext cx="0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7408" y="251460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INTENT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17408" y="2880360"/>
            <a:ext cx="333146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“Emotional design goals: collaborative, safe, joyful… every token exists to serve one of those three feelings.”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styles.js, lines 1-2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200144" y="2514600"/>
            <a:ext cx="0" cy="301752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88808" y="2514600"/>
            <a:ext cx="0" cy="301752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Three feelings, </a:t>
            </a:r>
            <a:pPr indent="0" marL="0">
              <a:buNone/>
            </a:pPr>
            <a:r>
              <a:rPr lang="en-US" sz="30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system.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Verbatim from the app's own design-intent comment — styles.js, line 1.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46304" cy="146304"/>
          </a:xfrm>
          <a:prstGeom prst="rect">
            <a:avLst/>
          </a:prstGeom>
          <a:solidFill>
            <a:srgbClr val="1E5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Collaborative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4533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Shared member avatars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Group discussion spaces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trip, everyone's plan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67784" y="2331720"/>
            <a:ext cx="146304" cy="146304"/>
          </a:xfrm>
          <a:prstGeom prst="rect">
            <a:avLst/>
          </a:prstGeom>
          <a:solidFill>
            <a:srgbClr val="3A7D5A"/>
          </a:solidFill>
          <a:ln/>
        </p:spPr>
      </p:sp>
      <p:sp>
        <p:nvSpPr>
          <p:cNvPr id="10" name="Text 8"/>
          <p:cNvSpPr/>
          <p:nvPr/>
        </p:nvSpPr>
        <p:spPr>
          <a:xfrm>
            <a:off x="4642104" y="21945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7784" y="26060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Safe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367784" y="3246120"/>
            <a:ext cx="34533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Contrast-checked palette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Status color never decorative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Honest, never-blank empty states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95488" y="2331720"/>
            <a:ext cx="146304" cy="146304"/>
          </a:xfrm>
          <a:prstGeom prst="rect">
            <a:avLst/>
          </a:prstGeom>
          <a:solidFill>
            <a:srgbClr val="AA5B3B"/>
          </a:solidFill>
          <a:ln/>
        </p:spPr>
      </p:sp>
      <p:sp>
        <p:nvSpPr>
          <p:cNvPr id="14" name="Text 12"/>
          <p:cNvSpPr/>
          <p:nvPr/>
        </p:nvSpPr>
        <p:spPr>
          <a:xfrm>
            <a:off x="8369808" y="21945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5488" y="26060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Joyful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095488" y="3246120"/>
            <a:ext cx="345338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Warm neutral backgrounds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travel photography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Illustrated empty states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WORDMARK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one real treatment.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802636" y="1920240"/>
            <a:ext cx="6583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2636" y="260604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-150" kern="0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802636" y="34290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  ·  30px  ·  800  ·  #1E5F5F  ·  -0.6 tracking  ·  styles.js TEXT.appName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76956" y="466344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This is the only logo treatment that currently exists in the app — a styled text wordmark, used exclusively on light backgrounds. There is no separate icon mark and no dark-surface variant defined anywhere in the codebase.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— FOUNDATIONS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Three tiers, </a:t>
            </a:r>
            <a:pPr indent="0" marL="0">
              <a:buNone/>
            </a:pPr>
            <a:r>
              <a:rPr lang="en-US" sz="30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palette.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23444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Brand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app's identity — verified as the most-used literal colors across every live screen. Teal alone appears 8× as a hardcoded hex; terracotta 4×.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589520" y="19202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E5F5F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74736" y="19202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AA5B3B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59952" y="19202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0E8DC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45168" y="19202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3A7D5A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383280"/>
            <a:ext cx="10908792" cy="0"/>
          </a:xfrm>
          <a:prstGeom prst="line">
            <a:avLst/>
          </a:prstGeom>
          <a:noFill/>
          <a:ln w="12700">
            <a:solidFill>
              <a:srgbClr val="EFE8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661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3520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Category &amp; Content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deliberate secondary palette (styles.js CATEGORY_COLORS + App.jsx CUSTOM_COLORS) for telling apart the six trip-planning categories and any user-created ones. Not part of core brand identity.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89520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E8B84A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5B8DBE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13648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6BAE8A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25712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D9805A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9B8AC4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0" y="3611880"/>
            <a:ext cx="384048" cy="384048"/>
          </a:xfrm>
          <a:prstGeom prst="roundRect">
            <a:avLst>
              <a:gd name="adj" fmla="val 9524"/>
            </a:avLst>
          </a:prstGeom>
          <a:solidFill>
            <a:srgbClr val="C2678D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074920"/>
            <a:ext cx="10908792" cy="0"/>
          </a:xfrm>
          <a:prstGeom prst="line">
            <a:avLst/>
          </a:prstGeom>
          <a:noFill/>
          <a:ln w="12700">
            <a:solidFill>
              <a:srgbClr val="EFE8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2578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5212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Third-Party Attribution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external brand colors (data.js PLATFORM_COLORS) used only on source badges — Instagram, Google, Booking.com and others — borrowed for recognizability, never used as brand colors.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589520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10101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83296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C13584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77072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4285F4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0848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FF5A5F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64624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03580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0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5A8A6A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552176" y="530352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8A7F74"/>
          </a:solidFill>
          <a:ln w="6350">
            <a:solidFill>
              <a:srgbClr val="E5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1E5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 ·  01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262872" y="658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#1E5F5F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tonal relationship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493520" cy="1188720"/>
          </a:xfrm>
          <a:prstGeom prst="roundRect">
            <a:avLst>
              <a:gd name="adj" fmla="val 4615"/>
            </a:avLst>
          </a:prstGeom>
          <a:solidFill>
            <a:srgbClr val="1E5F5F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57600"/>
            <a:ext cx="149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913632"/>
            <a:ext cx="149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#1E5F5F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16480" y="2377440"/>
            <a:ext cx="1493520" cy="1188720"/>
          </a:xfrm>
          <a:prstGeom prst="roundRect">
            <a:avLst>
              <a:gd name="adj" fmla="val 4615"/>
            </a:avLst>
          </a:prstGeom>
          <a:solidFill>
            <a:srgbClr val="2D7A7A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6480" y="3657600"/>
            <a:ext cx="149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Light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16480" y="3913632"/>
            <a:ext cx="149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#2D7A7A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992880" y="2377440"/>
            <a:ext cx="1493520" cy="1188720"/>
          </a:xfrm>
          <a:prstGeom prst="roundRect">
            <a:avLst>
              <a:gd name="adj" fmla="val 4615"/>
            </a:avLst>
          </a:prstGeom>
          <a:solidFill>
            <a:srgbClr val="E4F0EF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92880" y="3657600"/>
            <a:ext cx="149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92880" y="3913632"/>
            <a:ext cx="149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#E4F0EF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0" y="19659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2258568"/>
            <a:ext cx="5605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Primary Brand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943600" y="28803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3172968"/>
            <a:ext cx="56052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most-used literal color in the live app (8 hardcoded occurrences). Carries the wordmark, buttons, active states, gradient photo-card overlays, and the countdown pill. Screen headers are near-black ink, not teal — a common assumption this deck corrects.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AA5B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 ·  02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Terracotta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262872" y="658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#AA5B3B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Flat value — no scale defined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AA5B3B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26517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lighter or darker variant is defined for this color in styles.js.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9659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2258568"/>
            <a:ext cx="5605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Action &amp; Accent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943600" y="28803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3172968"/>
            <a:ext cx="56052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one primary “tap this to move forward” action per screen. Its own caption is allowed to share the hue — the floating add button and the label beneath it are the same action, not two competing ones. Darkened from an earlier #D4724A after white button text measured 3.33:1, below WCAG AA; this shade holds ~4.9:1.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F0E8D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 ·  03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262872" y="658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#F0E8DC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Flat value — no scale defined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0E8DC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26517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lighter or darker variant is defined for this color in styles.js.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9659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2258568"/>
            <a:ext cx="5605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Warm Surface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943600" y="28803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3172968"/>
            <a:ext cx="56052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warm neutral for secondary UI surfaces — icon badge circles, inactive toggle/chip backgrounds, and callout boxes. Not a page background (those are separate, lighter tokens) and not used for the countdown pill, which matches the trip-detail hero's teal treatment everywhere it appears.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3A7D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 ·  04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Milestone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262872" y="6583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#3A7D5A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tonal relationship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2331720" cy="1188720"/>
          </a:xfrm>
          <a:prstGeom prst="roundRect">
            <a:avLst>
              <a:gd name="adj" fmla="val 4615"/>
            </a:avLst>
          </a:prstGeom>
          <a:solidFill>
            <a:srgbClr val="3A7D5A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5760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913632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#3A7D5A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2377440"/>
            <a:ext cx="2331720" cy="1188720"/>
          </a:xfrm>
          <a:prstGeom prst="roundRect">
            <a:avLst>
              <a:gd name="adj" fmla="val 4615"/>
            </a:avLst>
          </a:prstGeom>
          <a:solidFill>
            <a:srgbClr val="F3F7F5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54680" y="3657600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54680" y="3913632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#F3F7F5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0" y="19659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0" y="2258568"/>
            <a:ext cx="5605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7D5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Decided &amp; Completion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943600" y="2880360"/>
            <a:ext cx="5605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3172968"/>
            <a:ext cx="56052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Mostly reserved for completion — decided items, a fully-decided trip, and the countdown pill's imminent-departure state (an intentional exception, not literal completion). Open inconsistency: the Home/My Trips progress bar fill is always milestone green, even while its label still reads “In progress.”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TYPOGRAPHY — FOUNDATIONS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typeface, </a:t>
            </a:r>
            <a:pPr indent="0" marL="0">
              <a:buNone/>
            </a:pPr>
            <a:r>
              <a:rPr lang="en-US" sz="30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weight.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180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WHAT'S LOADED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2121408"/>
            <a:ext cx="51800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Sans, loaded from Google Fonts (index.css, line 1) and applied globally to &lt;body&gt; (index.css, line 16), with a real fallback stack: -apple-system, BlinkMacSystemFont, 'Segoe UI', sans-serif. A deliberately loaded web font, not a system default.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68796" y="1828800"/>
            <a:ext cx="5180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WHY IT FITS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68796" y="2121408"/>
            <a:ext cx="51800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Rounded terminals read as approachable at small sizes — the type scale runs as low as 13px for captions and timestamps. Extrabold (800) carries real headline weight without switching families, keeping the wordmark and a timestamp visibly part of one system.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090879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WEIGHT RANGE — AS LOADED IN index.css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85644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85644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485644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1208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31208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331208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6772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6772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176772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700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22336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22336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022336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867900" y="4251960"/>
            <a:ext cx="1680972" cy="1554480"/>
          </a:xfrm>
          <a:prstGeom prst="roundRect">
            <a:avLst>
              <a:gd name="adj" fmla="val 3529"/>
            </a:avLst>
          </a:prstGeom>
          <a:solidFill>
            <a:srgbClr val="F7F4F0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67900" y="4434840"/>
            <a:ext cx="16809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i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9867900" y="5440680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400 italic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TYPE SCALE — FOUNDATIONS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Eleven tokens, </a:t>
            </a:r>
            <a:pPr indent="0" marL="0">
              <a:buNone/>
            </a:pPr>
            <a:r>
              <a:rPr lang="en-US" sz="28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family.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822960"/>
                <a:gridCol w="868680"/>
                <a:gridCol w="1234440"/>
                <a:gridCol w="1234440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Token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Size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Weight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Line-h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Tracking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Color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appName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30px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1.05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-0.6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teal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screenTitle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24px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1.15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-0.4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charcoal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cardTitle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1.35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-0.2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charcoal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categoryRowName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-0.1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charcoal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body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1.5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charcoal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buttonText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greeting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warmGrey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categoryRowSubtext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warmGrey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sectionHeading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1.35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+1.1 upper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warmGrey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subtext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1.4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warmGrey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timestamp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13px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400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1.4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—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504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warmGrey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80960" y="1691640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 A FIXED RATIO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680960" y="2011680"/>
            <a:ext cx="3867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30→24 is 1.25×, 24→16 is 1.5×, but 16-15-14-13 are four sizes packed into 3px. Sizes cluster tightly in the 13-16px reading range and jump more sharply for the two “big statement” tiers — tuned by hierarchy and legibility, not derived from one multiplier.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80960" y="3886200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REAL-WORLD DEVIATION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80960" y="4206240"/>
            <a:ext cx="3867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Live screens also contain dozens of hand-typed sizes outside these 11 tokens (10, 11, 12, 17-20, 22, 26, 28...) — e.g. the Home screen defines its own local scale instead of importing TEXT. The scale is real and coherent where it's used, but not universally enforced.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subtext and timestamp share identical values — two semantic names for a caption vs. a timestamp, not a visual difference.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SPACING — FOUNDATIONS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Tuned by eye, </a:t>
            </a:r>
            <a:pPr indent="0" marL="0">
              <a:buNone/>
            </a:pPr>
            <a:r>
              <a:rPr lang="en-US" sz="28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 a strict grid.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LAYOUT &amp; RHYTHM — styles.js SPACING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headingGap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286000" y="2221992"/>
            <a:ext cx="457200" cy="201168"/>
          </a:xfrm>
          <a:prstGeom prst="rect">
            <a:avLst/>
          </a:prstGeom>
          <a:solidFill>
            <a:srgbClr val="2D7A7A"/>
          </a:solidFill>
          <a:ln/>
        </p:spPr>
      </p:sp>
      <p:sp>
        <p:nvSpPr>
          <p:cNvPr id="7" name="Text 5"/>
          <p:cNvSpPr/>
          <p:nvPr/>
        </p:nvSpPr>
        <p:spPr>
          <a:xfrm>
            <a:off x="2880360" y="2194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10px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1518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cardGap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2642616"/>
            <a:ext cx="548640" cy="201168"/>
          </a:xfrm>
          <a:prstGeom prst="rect">
            <a:avLst/>
          </a:prstGeom>
          <a:solidFill>
            <a:srgbClr val="2D7A7A"/>
          </a:solidFill>
          <a:ln/>
        </p:spPr>
      </p:sp>
      <p:sp>
        <p:nvSpPr>
          <p:cNvPr id="10" name="Text 8"/>
          <p:cNvSpPr/>
          <p:nvPr/>
        </p:nvSpPr>
        <p:spPr>
          <a:xfrm>
            <a:off x="2971800" y="261518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12px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cardPad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86000" y="3063240"/>
            <a:ext cx="731520" cy="201168"/>
          </a:xfrm>
          <a:prstGeom prst="rect">
            <a:avLst/>
          </a:prstGeom>
          <a:solidFill>
            <a:srgbClr val="2D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303580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16px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screenX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86000" y="3483864"/>
            <a:ext cx="914400" cy="201168"/>
          </a:xfrm>
          <a:prstGeom prst="rect">
            <a:avLst/>
          </a:prstGeom>
          <a:solidFill>
            <a:srgbClr val="2D7A7A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345643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20px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87705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sectionGap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86000" y="3904488"/>
            <a:ext cx="1280160" cy="201168"/>
          </a:xfrm>
          <a:prstGeom prst="rect">
            <a:avLst/>
          </a:prstGeom>
          <a:solidFill>
            <a:srgbClr val="2D7A7A"/>
          </a:solidFill>
          <a:ln/>
        </p:spPr>
      </p:sp>
      <p:sp>
        <p:nvSpPr>
          <p:cNvPr id="19" name="Text 17"/>
          <p:cNvSpPr/>
          <p:nvPr/>
        </p:nvSpPr>
        <p:spPr>
          <a:xfrm>
            <a:off x="3703320" y="387705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28px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COMPONENT SIZING — styles.js SPACING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8006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inputMinHeight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77440" y="48006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48px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9320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buttonMinHeight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77440" y="509320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52px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385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tabBarHeight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538581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64px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67842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scrollBottomPad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377440" y="567842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116px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83680" y="1737360"/>
            <a:ext cx="0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1737360"/>
            <a:ext cx="0" cy="457200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1783080"/>
            <a:ext cx="4599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BASE-UNIT FINDING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49440" y="2103120"/>
            <a:ext cx="45994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Sampled every literal gap/margin/padding value across the live screens (~485 samples). ~92% land on even numbers, but only ~48% are multiples of 4 — common gaps like 6, 10, 14 and 18 appear constantly.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49440" y="3566160"/>
            <a:ext cx="459943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Honest conclusion: a practical ~2px base unit, loosely biased toward 4px — not a strict 4pt or 8pt grid system. No single ratio was invented to describe this; the numbers simply don't support one.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ELEVATION — FOUNDATIONS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Charcoal shadows, </a:t>
            </a:r>
            <a:pPr indent="0" marL="0">
              <a:buNone/>
            </a:pPr>
            <a:r>
              <a:rPr lang="en-US" sz="28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two layers deep.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card imports one of three named tokens (styles.js) instead of a hand-rolled shadow. Each is two layers — a tight “contact” shadow plus a soft “ambient” one — and both use the app's own charcoal (rgba 26,18,12) rather than pure black, so shadows pick up the same warm palette instead of a cold grey cast.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2705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A120C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498348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SHADOW_SOFT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3270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 1px 2px rgba(26,18,12,0.04), 0 4px 12px rgba(26,18,12,0.06)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59224" y="2834640"/>
            <a:ext cx="32705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1A120C">
                <a:alpha val="3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59224" y="498348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SHADOW_CARD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59224" y="5303520"/>
            <a:ext cx="3270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 1px 2px rgba(26,18,12,0.05), 0 10px 24px rgba(26,18,12,0.09)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78368" y="2834640"/>
            <a:ext cx="32705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79400" dist="127000" dir="5400000">
              <a:srgbClr val="1A120C">
                <a:alpha val="4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8368" y="498348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SHADOW_ELEVATED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8368" y="5303520"/>
            <a:ext cx="3270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 2px 4px rgba(26,18,12,0.06), 0 16px 40px rgba(26,18,12,0.16)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RULES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 the app </a:t>
            </a:r>
            <a:pPr indent="0" marL="0">
              <a:buNone/>
            </a:pPr>
            <a:r>
              <a:rPr lang="en-US" sz="2800" i="1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actually behaves.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F3F7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5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8105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Always 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Reserve terracotta for one primary action — its caption may share the hue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1089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milestone green for completion, decided items &amp; urgency thresholds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79476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the two-layer warm-charcoal shadow tokens, never a flat one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805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Declutter and recolor any sourced illustration before use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516636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1663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Keep a consistent 16px gap between a header and its content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1783080"/>
            <a:ext cx="365760" cy="365760"/>
          </a:xfrm>
          <a:prstGeom prst="ellipse">
            <a:avLst/>
          </a:prstGeom>
          <a:solidFill>
            <a:srgbClr val="FBEEEA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2280" y="18105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09360" y="242316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4231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use pure black or pure white for 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10896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1089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add a hex value that duplicates an existing token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379476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37947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introduce a shadow outside the three defined tokens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9360" y="448056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44805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let a category tint reuse the primary action color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16636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516636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crowd an empty-state illustration — let it breathe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progress-bar/milestone exception documented on slide 9 is a live, open inconsistency — deliberately left out of these rules rather than papered over.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274552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6897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5F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FC7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2834640"/>
            <a:ext cx="121889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
</a:t>
            </a:r>
            <a:pPr algn="ctr" indent="0" marL="0">
              <a:lnSpc>
                <a:spcPts val="4200"/>
              </a:lnSpc>
              <a:buNone/>
            </a:pPr>
            <a:r>
              <a:rPr lang="en-US" sz="3600" i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together.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46634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C7C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value in this deck traces to real code — styles.js, index.css, data.js, App.jsx.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2026-08-24T11:23:36Z</dcterms:created>
  <dcterms:modified xsi:type="dcterms:W3CDTF">2026-08-24T11:23:36Z</dcterms:modified>
</cp:coreProperties>
</file>