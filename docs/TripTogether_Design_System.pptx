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F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13264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59568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405872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552176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698480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844784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991088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137392" y="512064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966960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113264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259568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5872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0552176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844784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91088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137392" y="5266944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966960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113264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259568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405872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552176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698480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844784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0991088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137392" y="5413248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966960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113264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259568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405872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0552176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0698480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844784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0991088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1137392" y="5559552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9966960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113264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259568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0405872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552176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698480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844784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991088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1137392" y="5705856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966960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113264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0259568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0405872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552176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698480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0844784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0991088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1137392" y="5852160"/>
            <a:ext cx="32004" cy="32004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64008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2600" dirty="0"/>
          </a:p>
        </p:txBody>
      </p:sp>
      <p:sp>
        <p:nvSpPr>
          <p:cNvPr id="57" name="Text 55"/>
          <p:cNvSpPr/>
          <p:nvPr/>
        </p:nvSpPr>
        <p:spPr>
          <a:xfrm>
            <a:off x="640080" y="15087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4F0E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DESIGN SYSTEM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40080" y="1920240"/>
            <a:ext cx="77724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better trips,
</a:t>
            </a:r>
            <a:pPr indent="0" marL="0">
              <a:lnSpc>
                <a:spcPts val="5200"/>
              </a:lnSpc>
              <a:buNone/>
            </a:pPr>
            <a:r>
              <a:rPr lang="en-US" sz="4600" i="1" dirty="0">
                <a:solidFill>
                  <a:srgbClr val="AA5B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together.</a:t>
            </a:r>
            <a:endParaRPr lang="en-US" sz="4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1E5F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4206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that plans
</a:t>
            </a:r>
            <a:pPr indent="0" marL="0">
              <a:lnSpc>
                <a:spcPts val="4000"/>
              </a:lnSpc>
              <a:buNone/>
            </a:pPr>
            <a:r>
              <a:rPr lang="en-US" sz="3400" i="1" dirty="0">
                <a:solidFill>
                  <a:srgbClr val="E4F0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trips, together.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22280" y="685800"/>
            <a:ext cx="601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22280" y="1014984"/>
            <a:ext cx="60180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collaborative trip-planning app for groups — save ideas, discuss plans, and track a trip together in one shared space.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22280" y="2240280"/>
            <a:ext cx="601803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22280" y="2423160"/>
            <a:ext cx="601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CORE SCREENS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22280" y="2752344"/>
            <a:ext cx="60180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Home  ·  My Trips  ·  Group Discussions  ·  Ask the AI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22280" y="3977640"/>
            <a:ext cx="601803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22280" y="4160520"/>
            <a:ext cx="6018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DESIGN INTENT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22280" y="4489704"/>
            <a:ext cx="60180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“Collaborative, safe, joyful — every token exists to serve one of those three feelings.” — src/styles.js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
</a:t>
            </a:r>
            <a:pPr indent="0" marL="0">
              <a:lnSpc>
                <a:spcPts val="4600"/>
              </a:lnSpc>
              <a:buNone/>
            </a:pPr>
            <a:r>
              <a:rPr lang="en-US" sz="4000" i="1" dirty="0">
                <a:solidFill>
                  <a:srgbClr val="2D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3453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BFB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3453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Collaborative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345338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Shared member avatars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Group discussion spaces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trip, everyone's plan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30624" y="2468880"/>
            <a:ext cx="0" cy="310896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67784" y="2514600"/>
            <a:ext cx="3453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BFB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367784" y="2834640"/>
            <a:ext cx="3453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67784" y="3520440"/>
            <a:ext cx="345338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Contrast-checked palette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Status color never decorative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Honest, never-blank empty states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958328" y="2468880"/>
            <a:ext cx="0" cy="310896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95488" y="2514600"/>
            <a:ext cx="3453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BFB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95488" y="2834640"/>
            <a:ext cx="34533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Joyful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095488" y="3520440"/>
            <a:ext cx="345338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Warm neutral backgrounds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Real travel photography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Illustrated empty states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wordmark,
</a:t>
            </a:r>
            <a:pPr indent="0" marL="0">
              <a:lnSpc>
                <a:spcPts val="3800"/>
              </a:lnSpc>
              <a:buNone/>
            </a:pPr>
            <a:r>
              <a:rPr lang="en-US" sz="3200" i="1" dirty="0">
                <a:solidFill>
                  <a:srgbClr val="2D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used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603504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DD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57600"/>
            <a:ext cx="6035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spc="-100" kern="0" dirty="0">
                <a:solidFill>
                  <a:srgbClr val="1E5F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434340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Plus Jakarta Sans · 800 · #1E5F5F · -0.6 tracking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040880" y="2468880"/>
            <a:ext cx="45079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040880" y="2788920"/>
            <a:ext cx="450799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 currently has one real logo treatment — a styled text wordmark, shown here — used exclusively on light backgrounds. There is no separate icon mark and no dark-surface variant defined yet.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COLOR PALETTE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315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colors,
</a:t>
            </a:r>
            <a:pPr indent="0" marL="0">
              <a:lnSpc>
                <a:spcPts val="3800"/>
              </a:lnSpc>
              <a:buNone/>
            </a:pPr>
            <a:r>
              <a:rPr lang="en-US" sz="3200" i="1" dirty="0">
                <a:solidFill>
                  <a:srgbClr val="2D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jobs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44318" cy="2103120"/>
          </a:xfrm>
          <a:prstGeom prst="rect">
            <a:avLst/>
          </a:prstGeom>
          <a:solidFill>
            <a:srgbClr val="1E5F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3657600"/>
            <a:ext cx="22699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4498848"/>
            <a:ext cx="25443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4773168"/>
            <a:ext cx="25443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#1E5F5F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40080" y="5029200"/>
            <a:ext cx="24528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5F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Primary Brand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5285232"/>
            <a:ext cx="240715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Structural color — headers, active nav, card accents.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67278" y="2286000"/>
            <a:ext cx="2544318" cy="2103120"/>
          </a:xfrm>
          <a:prstGeom prst="rect">
            <a:avLst/>
          </a:prstGeom>
          <a:solidFill>
            <a:srgbClr val="AA5B3B"/>
          </a:solidFill>
          <a:ln/>
        </p:spPr>
      </p:sp>
      <p:sp>
        <p:nvSpPr>
          <p:cNvPr id="11" name="Text 9"/>
          <p:cNvSpPr/>
          <p:nvPr/>
        </p:nvSpPr>
        <p:spPr>
          <a:xfrm>
            <a:off x="3504438" y="3657600"/>
            <a:ext cx="22699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Terracotta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367278" y="4498848"/>
            <a:ext cx="25443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Terracotta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367278" y="4773168"/>
            <a:ext cx="25443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#AA5B3B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67278" y="5029200"/>
            <a:ext cx="24528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Action &amp; Accent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7278" y="5285232"/>
            <a:ext cx="240715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Reserved for the one primary action per screen.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94476" y="2286000"/>
            <a:ext cx="2544318" cy="2103120"/>
          </a:xfrm>
          <a:prstGeom prst="rect">
            <a:avLst/>
          </a:prstGeom>
          <a:solidFill>
            <a:srgbClr val="F0E8DC"/>
          </a:solidFill>
          <a:ln/>
        </p:spPr>
      </p:sp>
      <p:sp>
        <p:nvSpPr>
          <p:cNvPr id="17" name="Text 15"/>
          <p:cNvSpPr/>
          <p:nvPr/>
        </p:nvSpPr>
        <p:spPr>
          <a:xfrm>
            <a:off x="6231636" y="3657600"/>
            <a:ext cx="22699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94476" y="4498848"/>
            <a:ext cx="25443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094476" y="4773168"/>
            <a:ext cx="25443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#F0E8DC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94476" y="5029200"/>
            <a:ext cx="24528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Warm Background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094476" y="5285232"/>
            <a:ext cx="240715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Countdown pills, icon badges, warm surfaces.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821674" y="2286000"/>
            <a:ext cx="2544318" cy="2103120"/>
          </a:xfrm>
          <a:prstGeom prst="rect">
            <a:avLst/>
          </a:prstGeom>
          <a:solidFill>
            <a:srgbClr val="3A7D5A"/>
          </a:solidFill>
          <a:ln/>
        </p:spPr>
      </p:sp>
      <p:sp>
        <p:nvSpPr>
          <p:cNvPr id="23" name="Text 21"/>
          <p:cNvSpPr/>
          <p:nvPr/>
        </p:nvSpPr>
        <p:spPr>
          <a:xfrm>
            <a:off x="8958834" y="3657600"/>
            <a:ext cx="22699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821674" y="4498848"/>
            <a:ext cx="25443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Milestone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821674" y="4773168"/>
            <a:ext cx="25443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#3A7D5A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821674" y="5029200"/>
            <a:ext cx="245287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A7D5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Progress &amp; Success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21674" y="5285232"/>
            <a:ext cx="2407158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Only for genuine completion moments.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1E5F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4753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2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#1E5F5F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8000" y="640080"/>
            <a:ext cx="5880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Teal — real tonal relationship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8000" y="1051560"/>
            <a:ext cx="1868851" cy="914400"/>
          </a:xfrm>
          <a:prstGeom prst="roundRect">
            <a:avLst>
              <a:gd name="adj" fmla="val 6000"/>
            </a:avLst>
          </a:prstGeom>
          <a:solidFill>
            <a:srgbClr val="1E5F5F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8000" y="2011680"/>
            <a:ext cx="186885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8000" y="2240280"/>
            <a:ext cx="186885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#1E5F5F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674011" y="1051560"/>
            <a:ext cx="1868851" cy="914400"/>
          </a:xfrm>
          <a:prstGeom prst="roundRect">
            <a:avLst>
              <a:gd name="adj" fmla="val 6000"/>
            </a:avLst>
          </a:prstGeom>
          <a:solidFill>
            <a:srgbClr val="2D7A7A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74011" y="2011680"/>
            <a:ext cx="186885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Light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74011" y="2240280"/>
            <a:ext cx="186885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#2D7A7A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680021" y="1051560"/>
            <a:ext cx="1868851" cy="914400"/>
          </a:xfrm>
          <a:prstGeom prst="roundRect">
            <a:avLst>
              <a:gd name="adj" fmla="val 6000"/>
            </a:avLst>
          </a:prstGeom>
          <a:solidFill>
            <a:srgbClr val="E4F0EF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80021" y="2011680"/>
            <a:ext cx="186885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80021" y="2240280"/>
            <a:ext cx="1868851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#E4F0EF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8000" y="301752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8000" y="3310128"/>
            <a:ext cx="5880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5F5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Primary Brand · Structural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668000" y="388620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8000" y="4178808"/>
            <a:ext cx="58808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app's structural color — headers, gradients, card accents, active nav state. Reused, not repeated: a single base value with a lighter step for gradients and a pale tint for badge backgrounds.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AA5B3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4753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endParaRPr lang="en-US" sz="22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Terracotta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#AA5B3B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8000" y="640080"/>
            <a:ext cx="5880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Flat value — no scale defined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8000" y="1051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AA5B3B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256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#AA5B3B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68000" y="301752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8000" y="3310128"/>
            <a:ext cx="5880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Action &amp; Accent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8000" y="388620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8000" y="4178808"/>
            <a:ext cx="58808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Reserved exclusively for the one primary “tap this to move forward” action per screen. Darkened from an earlier #D4724A after white button text measured 3.33:1 — below WCAG AA. This shade holds ~4.9:1.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F0E8D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4753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2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Sand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#F0E8DC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8000" y="640080"/>
            <a:ext cx="5880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Flat value — no scale defined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8000" y="105156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F0E8DC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2560" y="14630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#F0E8DC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68000" y="301752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8000" y="3310128"/>
            <a:ext cx="5880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Warm Background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8000" y="388620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8000" y="4178808"/>
            <a:ext cx="58808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 warm neutral used for countdown pills and icon badge backgrounds — part of what keeps the app reading as a paper travel journal rather than admin software.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3A7D5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0"/>
            <a:ext cx="4753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22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Milestone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6035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#3A7D5A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8000" y="640080"/>
            <a:ext cx="58808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Milestone — real tonal relationship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8000" y="1051560"/>
            <a:ext cx="2871856" cy="914400"/>
          </a:xfrm>
          <a:prstGeom prst="roundRect">
            <a:avLst>
              <a:gd name="adj" fmla="val 6000"/>
            </a:avLst>
          </a:prstGeom>
          <a:solidFill>
            <a:srgbClr val="3A7D5A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8000" y="2011680"/>
            <a:ext cx="2871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8000" y="2240280"/>
            <a:ext cx="2871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#3A7D5A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77016" y="1051560"/>
            <a:ext cx="2871856" cy="914400"/>
          </a:xfrm>
          <a:prstGeom prst="roundRect">
            <a:avLst>
              <a:gd name="adj" fmla="val 6000"/>
            </a:avLst>
          </a:prstGeom>
          <a:solidFill>
            <a:srgbClr val="F3F7F5"/>
          </a:solidFill>
          <a:ln w="9525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77016" y="2011680"/>
            <a:ext cx="2871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677016" y="2240280"/>
            <a:ext cx="287185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#F3F7F5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8000" y="301752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8000" y="3310128"/>
            <a:ext cx="58808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7D5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Progress &amp; Success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668000" y="3886200"/>
            <a:ext cx="58808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Usage note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8000" y="4178808"/>
            <a:ext cx="588087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Reserved exclusively for progress/completion moments — a decided category, a fully-decided trip, an imminent countdown. Never used as plain decoration.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better
</a:t>
            </a:r>
            <a:pPr indent="0" marL="0">
              <a:lnSpc>
                <a:spcPts val="4600"/>
              </a:lnSpc>
              <a:buNone/>
            </a:pPr>
            <a:r>
              <a:rPr lang="en-US" sz="4000" i="1" dirty="0">
                <a:solidFill>
                  <a:srgbClr val="2D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377440"/>
            <a:ext cx="5120640" cy="1417320"/>
          </a:xfrm>
          <a:prstGeom prst="rect">
            <a:avLst/>
          </a:prstGeom>
          <a:solidFill>
            <a:srgbClr val="F7F4F0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256032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Plus Jakarta Sans is the app's one real typeface — loaded via Google Fonts and applied globally. Every tier in the type scale is this same family, differentiated by weight and size rather than by switching fonts.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0" y="640080"/>
            <a:ext cx="5239512" cy="5394960"/>
          </a:xfrm>
          <a:prstGeom prst="rect">
            <a:avLst/>
          </a:prstGeom>
          <a:solidFill>
            <a:srgbClr val="F7F4F0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0" y="822960"/>
            <a:ext cx="523951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Aa</a:t>
            </a:r>
            <a:endParaRPr lang="en-US" sz="7200" dirty="0"/>
          </a:p>
        </p:txBody>
      </p:sp>
      <p:sp>
        <p:nvSpPr>
          <p:cNvPr id="7" name="Shape 5"/>
          <p:cNvSpPr/>
          <p:nvPr/>
        </p:nvSpPr>
        <p:spPr>
          <a:xfrm>
            <a:off x="6675120" y="2286000"/>
            <a:ext cx="450799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2423160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Plus Jakarta Sans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2697480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Heading, Body &amp; UI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0" y="3108960"/>
            <a:ext cx="450799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291840"/>
            <a:ext cx="4507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Bold  · 800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675120" y="3566160"/>
            <a:ext cx="4507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better trips, together.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0" y="4069080"/>
            <a:ext cx="4507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Regular  · 400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75120" y="4343400"/>
            <a:ext cx="4507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better trips, together.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4846320"/>
            <a:ext cx="45079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Italic  · 400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75120" y="5120640"/>
            <a:ext cx="4507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better trips, together.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
</a:t>
            </a:r>
            <a:pPr indent="0" marL="0">
              <a:lnSpc>
                <a:spcPts val="3800"/>
              </a:lnSpc>
              <a:buNone/>
            </a:pPr>
            <a:r>
              <a:rPr lang="en-US" sz="3400" i="1" dirty="0">
                <a:solidFill>
                  <a:srgbClr val="2D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hierarchy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PLUS JAKARTA SANS — CORE SCALE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5120640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6888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screenTitle / 24px / 800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270662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My Trips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cardTitle / 16px / 600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348386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Positano cliffside villa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02336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body / 15px / 400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426110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Plan better trips, together.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48006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sectionHeading / 13px / 700 UPPER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503834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WHO HAS CONTRIBUTED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965960"/>
            <a:ext cx="52395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SUBTEXT &amp; CAPTION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09360" y="2286000"/>
            <a:ext cx="5239512" cy="0"/>
          </a:xfrm>
          <a:prstGeom prst="line">
            <a:avLst/>
          </a:prstGeom>
          <a:noFill/>
          <a:ln w="12700">
            <a:solidFill>
              <a:srgbClr val="E5DD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2468880"/>
            <a:ext cx="52395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subtext / 13px / 400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09360" y="2706624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Trips you're planning with your crew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3246120"/>
            <a:ext cx="52395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timestamp / 13px / 400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309360" y="3483864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min ago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4023360"/>
            <a:ext cx="52395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7A7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buttonText / 15px / 600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09360" y="4261104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Create a Group Trip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Usage </a:t>
            </a:r>
            <a:pPr indent="0" marL="0">
              <a:buNone/>
            </a:pPr>
            <a:r>
              <a:rPr lang="en-US" sz="3400" i="1" dirty="0">
                <a:solidFill>
                  <a:srgbClr val="2D7A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rules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365760" cy="365760"/>
          </a:xfrm>
          <a:prstGeom prst="ellipse">
            <a:avLst/>
          </a:prstGeom>
          <a:solidFill>
            <a:srgbClr val="F3F7F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7D5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✓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43000" y="153619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Always do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1488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Reserve terracotta for the one primary action per screen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8346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milestone green only for genuine progress/completion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5204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the two-layer warm-charcoal shadow tokens, never a flat 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20624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2062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Declutter and recolor any sourced illustration before use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892040"/>
            <a:ext cx="5120640" cy="566928"/>
          </a:xfrm>
          <a:prstGeom prst="rect">
            <a:avLst/>
          </a:prstGeom>
          <a:solidFill>
            <a:srgbClr val="F3F7F5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8920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Keep a consistent 16px gap between a header and its content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1508760"/>
            <a:ext cx="365760" cy="365760"/>
          </a:xfrm>
          <a:prstGeom prst="ellipse">
            <a:avLst/>
          </a:prstGeom>
          <a:solidFill>
            <a:srgbClr val="FBE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A5B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2280" y="153619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do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214884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21488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use pure black or pure white for text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283464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28346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add a hex value that duplicates an existing token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09360" y="352044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4" name="Text 22"/>
          <p:cNvSpPr/>
          <p:nvPr/>
        </p:nvSpPr>
        <p:spPr>
          <a:xfrm>
            <a:off x="6537960" y="35204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introduce a shadow outside the three defined tokens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420624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42062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let a category tint reuse the primary action color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09360" y="4892040"/>
            <a:ext cx="5120640" cy="566928"/>
          </a:xfrm>
          <a:prstGeom prst="rect">
            <a:avLst/>
          </a:prstGeom>
          <a:solidFill>
            <a:srgbClr val="FBEEEA"/>
          </a:solidFill>
          <a:ln/>
        </p:spPr>
      </p:sp>
      <p:sp>
        <p:nvSpPr>
          <p:cNvPr id="28" name="Text 26"/>
          <p:cNvSpPr/>
          <p:nvPr/>
        </p:nvSpPr>
        <p:spPr>
          <a:xfrm>
            <a:off x="6537960" y="489204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Never crowd an empty-state illustration — let it breathe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1183112" y="6309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04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5F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4F0E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TripTogether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0" y="2788920"/>
            <a:ext cx="121889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better trips,
</a:t>
            </a:r>
            <a:pPr algn="ctr" indent="0" marL="0">
              <a:lnSpc>
                <a:spcPts val="4000"/>
              </a:lnSpc>
              <a:buNone/>
            </a:pPr>
            <a:r>
              <a:rPr lang="en-US" sz="3400" i="1" dirty="0">
                <a:solidFill>
                  <a:srgbClr val="AA5B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together.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2026-08-24T09:47:47Z</dcterms:created>
  <dcterms:modified xsi:type="dcterms:W3CDTF">2026-08-24T09:47:47Z</dcterms:modified>
</cp:coreProperties>
</file>