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13264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59568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05872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52176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44784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91088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37392" y="512064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966960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13264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259568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5872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552176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0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844784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91088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37392" y="5266944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13264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259568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405872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552176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98480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844784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991088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137392" y="5413248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966960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113264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59568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405872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552176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698480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844784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991088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137392" y="5559552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966960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113264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259568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405872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552176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698480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844784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991088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137392" y="5705856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966960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113264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259568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405872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552176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698480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844784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991088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137392" y="5852160"/>
            <a:ext cx="32004" cy="32004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640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TripTogether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4008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4F0E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0080" y="192024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better trips,
</a:t>
            </a:r>
            <a:pPr indent="0" marL="0">
              <a:lnSpc>
                <a:spcPts val="5200"/>
              </a:lnSpc>
              <a:buNone/>
            </a:pPr>
            <a:r>
              <a:rPr lang="en-US" sz="4600" i="1" dirty="0">
                <a:solidFill>
                  <a:srgbClr val="AA5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together.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1E5F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TripTogether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that plans
</a:t>
            </a:r>
            <a:pPr indent="0" marL="0">
              <a:lnSpc>
                <a:spcPts val="4000"/>
              </a:lnSpc>
              <a:buNone/>
            </a:pPr>
            <a:r>
              <a:rPr lang="en-US" sz="3400" i="1" dirty="0">
                <a:solidFill>
                  <a:srgbClr val="E4F0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trips, together.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22280" y="685800"/>
            <a:ext cx="601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22280" y="1014984"/>
            <a:ext cx="6018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collaborative trip-planning app for groups — save ideas, discuss plans, and track a trip together in one shared space.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22280" y="2240280"/>
            <a:ext cx="6018032" cy="0"/>
          </a:xfrm>
          <a:prstGeom prst="line">
            <a:avLst/>
          </a:prstGeom>
          <a:noFill/>
          <a:ln w="12700">
            <a:solidFill>
              <a:srgbClr val="E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2280" y="2423160"/>
            <a:ext cx="601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SCREENS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2280" y="2752344"/>
            <a:ext cx="6018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Home  ·  My Trips  ·  Group Discussions  ·  Ask the AI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22280" y="3977640"/>
            <a:ext cx="6018032" cy="0"/>
          </a:xfrm>
          <a:prstGeom prst="line">
            <a:avLst/>
          </a:prstGeom>
          <a:noFill/>
          <a:ln w="12700">
            <a:solidFill>
              <a:srgbClr val="E5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2280" y="4160520"/>
            <a:ext cx="601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 INTENT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2280" y="4489704"/>
            <a:ext cx="60180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“Collaborative, safe, joyful — every token exists to serve one of those three feelings.” — src/styles.js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
</a:t>
            </a:r>
            <a:pPr indent="0" marL="0">
              <a:lnSpc>
                <a:spcPts val="4600"/>
              </a:lnSpc>
              <a:buNone/>
            </a:pPr>
            <a:r>
              <a:rPr lang="en-US" sz="4000" i="1" dirty="0">
                <a:solidFill>
                  <a:srgbClr val="2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3453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3453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34533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Shared member avatars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Group discussion spaces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trip, everyone's plan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30624" y="2468880"/>
            <a:ext cx="0" cy="3108960"/>
          </a:xfrm>
          <a:prstGeom prst="line">
            <a:avLst/>
          </a:prstGeom>
          <a:noFill/>
          <a:ln w="12700">
            <a:solidFill>
              <a:srgbClr val="E5DD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67784" y="2514600"/>
            <a:ext cx="3453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67784" y="2834640"/>
            <a:ext cx="3453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67784" y="3520440"/>
            <a:ext cx="34533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Contrast-checked palette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Status color never decorative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Honest, never-blank empty states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58328" y="2468880"/>
            <a:ext cx="0" cy="3108960"/>
          </a:xfrm>
          <a:prstGeom prst="line">
            <a:avLst/>
          </a:prstGeom>
          <a:noFill/>
          <a:ln w="12700">
            <a:solidFill>
              <a:srgbClr val="E5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5488" y="2514600"/>
            <a:ext cx="3453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BFB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5488" y="2834640"/>
            <a:ext cx="3453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Joyful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95488" y="3520440"/>
            <a:ext cx="34533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Warm neutral backgrounds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 travel photography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Illustrated empty states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wordmark,
</a:t>
            </a:r>
            <a:pPr indent="0" marL="0">
              <a:lnSpc>
                <a:spcPts val="3800"/>
              </a:lnSpc>
              <a:buNone/>
            </a:pPr>
            <a:r>
              <a:rPr lang="en-US" sz="3200" i="1" dirty="0">
                <a:solidFill>
                  <a:srgbClr val="2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used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6035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spc="-100" kern="0" dirty="0">
                <a:solidFill>
                  <a:srgbClr val="1E5F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TripTogether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 · 800 · #1E5F5F · -0.6 tracking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0" y="2468880"/>
            <a:ext cx="4507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Usage note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0" y="2788920"/>
            <a:ext cx="45079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TripTogether currently has one real logo treatment — a styled text wordmark, shown here — used exclusively on light backgrounds. There is no separate icon mark and no dark-surface variant defined yet.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colors,
</a:t>
            </a:r>
            <a:pPr indent="0" marL="0">
              <a:lnSpc>
                <a:spcPts val="3800"/>
              </a:lnSpc>
              <a:buNone/>
            </a:pPr>
            <a:r>
              <a:rPr lang="en-US" sz="3200" i="1" dirty="0">
                <a:solidFill>
                  <a:srgbClr val="2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jobs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44318" cy="2103120"/>
          </a:xfrm>
          <a:prstGeom prst="rect">
            <a:avLst/>
          </a:prstGeom>
          <a:solidFill>
            <a:srgbClr val="1E5F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65760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498848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4773168"/>
            <a:ext cx="2544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#1E5F5F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F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Primary Brand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5285232"/>
            <a:ext cx="24071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Wordmark, buttons, active states — not headers.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67278" y="2286000"/>
            <a:ext cx="2544318" cy="2103120"/>
          </a:xfrm>
          <a:prstGeom prst="rect">
            <a:avLst/>
          </a:prstGeom>
          <a:solidFill>
            <a:srgbClr val="AA5B3B"/>
          </a:solidFill>
          <a:ln/>
        </p:spPr>
      </p:sp>
      <p:sp>
        <p:nvSpPr>
          <p:cNvPr id="11" name="Text 9"/>
          <p:cNvSpPr/>
          <p:nvPr/>
        </p:nvSpPr>
        <p:spPr>
          <a:xfrm>
            <a:off x="3504438" y="365760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Terracotta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7278" y="4498848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Terracotta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67278" y="4773168"/>
            <a:ext cx="2544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#AA5B3B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7278" y="5029200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5B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 &amp; Accent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67278" y="5285232"/>
            <a:ext cx="24071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primary action per screen — label included.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94476" y="2286000"/>
            <a:ext cx="2544318" cy="2103120"/>
          </a:xfrm>
          <a:prstGeom prst="rect">
            <a:avLst/>
          </a:prstGeom>
          <a:solidFill>
            <a:srgbClr val="F0E8DC"/>
          </a:solidFill>
          <a:ln/>
        </p:spPr>
      </p:sp>
      <p:sp>
        <p:nvSpPr>
          <p:cNvPr id="17" name="Text 15"/>
          <p:cNvSpPr/>
          <p:nvPr/>
        </p:nvSpPr>
        <p:spPr>
          <a:xfrm>
            <a:off x="6231636" y="365760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94476" y="4498848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94476" y="4773168"/>
            <a:ext cx="2544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#F0E8DC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94476" y="5029200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A5B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Warm Background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4476" y="5285232"/>
            <a:ext cx="24071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Icon badges, inactive chips, callout boxes.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21674" y="2286000"/>
            <a:ext cx="2544318" cy="210312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23" name="Text 21"/>
          <p:cNvSpPr/>
          <p:nvPr/>
        </p:nvSpPr>
        <p:spPr>
          <a:xfrm>
            <a:off x="8958834" y="3657600"/>
            <a:ext cx="22699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821674" y="4498848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Milestone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821674" y="4773168"/>
            <a:ext cx="25443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#3A7D5A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21674" y="5029200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5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Decided &amp; Completion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21674" y="5285232"/>
            <a:ext cx="240715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Completion &amp; decided state — one open exception.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1E5F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475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#1E5F5F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8000" y="640080"/>
            <a:ext cx="588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Teal — real tonal relationship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8000" y="1051560"/>
            <a:ext cx="1868851" cy="914400"/>
          </a:xfrm>
          <a:prstGeom prst="roundRect">
            <a:avLst>
              <a:gd name="adj" fmla="val 6000"/>
            </a:avLst>
          </a:prstGeom>
          <a:solidFill>
            <a:srgbClr val="1E5F5F"/>
          </a:solidFill>
          <a:ln w="9525">
            <a:solidFill>
              <a:srgbClr val="E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8000" y="2011680"/>
            <a:ext cx="1868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8000" y="2240280"/>
            <a:ext cx="1868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#1E5F5F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674011" y="1051560"/>
            <a:ext cx="1868851" cy="914400"/>
          </a:xfrm>
          <a:prstGeom prst="roundRect">
            <a:avLst>
              <a:gd name="adj" fmla="val 6000"/>
            </a:avLst>
          </a:prstGeom>
          <a:solidFill>
            <a:srgbClr val="2D7A7A"/>
          </a:solidFill>
          <a:ln w="9525">
            <a:solidFill>
              <a:srgbClr val="E5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74011" y="2011680"/>
            <a:ext cx="1868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74011" y="2240280"/>
            <a:ext cx="1868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#2D7A7A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80021" y="1051560"/>
            <a:ext cx="1868851" cy="914400"/>
          </a:xfrm>
          <a:prstGeom prst="roundRect">
            <a:avLst>
              <a:gd name="adj" fmla="val 6000"/>
            </a:avLst>
          </a:prstGeom>
          <a:solidFill>
            <a:srgbClr val="E4F0EF"/>
          </a:solidFill>
          <a:ln w="9525">
            <a:solidFill>
              <a:srgbClr val="E5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0021" y="2011680"/>
            <a:ext cx="1868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80021" y="2240280"/>
            <a:ext cx="18688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#E4F0EF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8000" y="3017520"/>
            <a:ext cx="588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8000" y="3310128"/>
            <a:ext cx="588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Primary Brand · Wordmark &amp; Actions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8000" y="3886200"/>
            <a:ext cx="588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Usage note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8000" y="4178808"/>
            <a:ext cx="58808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app's primary brand color, confirmed against the live app: the wordmark, solid buttons and active states, gradient photo-card overlays, and the countdown pill. Screen headers are near-black ink (#1A1A1A), not teal — a correction from this deck's first pass.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AA5B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475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Terracotta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#AA5B3B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8000" y="640080"/>
            <a:ext cx="588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Flat value — no scale defined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8000" y="1051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AA5B3B"/>
          </a:solidFill>
          <a:ln w="9525">
            <a:solidFill>
              <a:srgbClr val="E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25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#AA5B3B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8000" y="3017520"/>
            <a:ext cx="588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8000" y="3310128"/>
            <a:ext cx="588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5B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 &amp; Accent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8000" y="3886200"/>
            <a:ext cx="588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Usage note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8000" y="4178808"/>
            <a:ext cx="58808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one primary “tap this to move forward” action per screen. Its own caption may share the hue — the floating add button and the label beneath it are one action, not two. Darkened from an earlier #D4724A after white text measured 3.33:1, below WCAG AA; this holds ~4.9:1.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F0E8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475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#F0E8DC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8000" y="640080"/>
            <a:ext cx="588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Flat value — no scale defined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8000" y="10515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0E8DC"/>
          </a:solidFill>
          <a:ln w="9525">
            <a:solidFill>
              <a:srgbClr val="E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256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#F0E8DC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8000" y="3017520"/>
            <a:ext cx="588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8000" y="3310128"/>
            <a:ext cx="588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5B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Warm Background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8000" y="3886200"/>
            <a:ext cx="588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Usage note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8000" y="4178808"/>
            <a:ext cx="58808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warm neutral for secondary UI surfaces — icon badge circles, inactive toggle/chip backgrounds, and callout boxes. No longer used for the countdown pill, which now matches the trip-detail hero's teal treatment everywhere.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3A7D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475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Milestone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#3A7D5A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8000" y="640080"/>
            <a:ext cx="5880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Milestone — real tonal relationship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8000" y="1051560"/>
            <a:ext cx="2871856" cy="914400"/>
          </a:xfrm>
          <a:prstGeom prst="roundRect">
            <a:avLst>
              <a:gd name="adj" fmla="val 6000"/>
            </a:avLst>
          </a:prstGeom>
          <a:solidFill>
            <a:srgbClr val="3A7D5A"/>
          </a:solidFill>
          <a:ln w="9525">
            <a:solidFill>
              <a:srgbClr val="E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8000" y="2011680"/>
            <a:ext cx="2871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8000" y="2240280"/>
            <a:ext cx="2871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#3A7D5A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77016" y="1051560"/>
            <a:ext cx="2871856" cy="914400"/>
          </a:xfrm>
          <a:prstGeom prst="roundRect">
            <a:avLst>
              <a:gd name="adj" fmla="val 6000"/>
            </a:avLst>
          </a:prstGeom>
          <a:solidFill>
            <a:srgbClr val="F3F7F5"/>
          </a:solidFill>
          <a:ln w="9525">
            <a:solidFill>
              <a:srgbClr val="E5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77016" y="2011680"/>
            <a:ext cx="2871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77016" y="2240280"/>
            <a:ext cx="2871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#F3F7F5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8000" y="3017520"/>
            <a:ext cx="588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8000" y="3310128"/>
            <a:ext cx="588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D5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Decided &amp; Completion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8000" y="3886200"/>
            <a:ext cx="588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Usage note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8000" y="4178808"/>
            <a:ext cx="588087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Mostly reserved for completion — decided items, a fully-decided trip, and the countdown pill's imminent-departure state (an intentional exception, not literal completion). Open inconsistency: the Home/My Trips progress bar fill is always milestone green, even while its label still reads “In progress.”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better
</a:t>
            </a:r>
            <a:pPr indent="0" marL="0">
              <a:lnSpc>
                <a:spcPts val="4600"/>
              </a:lnSpc>
              <a:buNone/>
            </a:pPr>
            <a:r>
              <a:rPr lang="en-US" sz="4000" i="1" dirty="0">
                <a:solidFill>
                  <a:srgbClr val="2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5120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 is the app's one real typeface — loaded via Google Fonts and applied globally. Every tier in the type scale is this same family, differentiated by weight and size rather than by switching fonts.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640080"/>
            <a:ext cx="5239512" cy="539496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822960"/>
            <a:ext cx="5239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Aa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6675120" y="2286000"/>
            <a:ext cx="4507992" cy="0"/>
          </a:xfrm>
          <a:prstGeom prst="line">
            <a:avLst/>
          </a:prstGeom>
          <a:noFill/>
          <a:ln w="12700">
            <a:solidFill>
              <a:srgbClr val="E5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423160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697480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Heading, Body &amp; 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0" y="3108960"/>
            <a:ext cx="4507992" cy="0"/>
          </a:xfrm>
          <a:prstGeom prst="line">
            <a:avLst/>
          </a:prstGeom>
          <a:noFill/>
          <a:ln w="12700">
            <a:solidFill>
              <a:srgbClr val="E5D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291840"/>
            <a:ext cx="4507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Bold  · 800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0" y="3566160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 better trips, together.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4069080"/>
            <a:ext cx="4507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Regular  · 400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75120" y="4343400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 better trips, together.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4846320"/>
            <a:ext cx="45079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Italic  · 400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0" y="5120640"/>
            <a:ext cx="4507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 better trips, together.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
</a:t>
            </a:r>
            <a:pPr indent="0" marL="0">
              <a:lnSpc>
                <a:spcPts val="3800"/>
              </a:lnSpc>
              <a:buNone/>
            </a:pPr>
            <a:r>
              <a:rPr lang="en-US" sz="3400" i="1" dirty="0">
                <a:solidFill>
                  <a:srgbClr val="2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PLUS JAKARTA SANS — CORE SCALE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0"/>
          </a:xfrm>
          <a:prstGeom prst="line">
            <a:avLst/>
          </a:prstGeom>
          <a:noFill/>
          <a:ln w="12700">
            <a:solidFill>
              <a:srgbClr val="E5DD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screenTitle / 24px / 800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70662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My Trips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cardTitle / 16px / 600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4838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Positano cliffside villa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 / 15px / 400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2611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 better trips, together.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sectionHeading / 13px / 700 UPPER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5038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WHO HAS CONTRIBUTED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1965960"/>
            <a:ext cx="5239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SUBTEXT &amp; CAPTION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5239512" cy="0"/>
          </a:xfrm>
          <a:prstGeom prst="line">
            <a:avLst/>
          </a:prstGeom>
          <a:noFill/>
          <a:ln w="12700">
            <a:solidFill>
              <a:srgbClr val="E5D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468880"/>
            <a:ext cx="5239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subtext / 13px / 400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706624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Trips you're planning with your crew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3246120"/>
            <a:ext cx="5239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timestamp / 13px / 400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3483864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min ago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4023360"/>
            <a:ext cx="5239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7A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buttonText / 15px / 600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4261104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Create a Group Trip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 </a:t>
            </a:r>
            <a:pPr indent="0" marL="0">
              <a:buNone/>
            </a:pPr>
            <a:r>
              <a:rPr lang="en-US" sz="3400" i="1" dirty="0">
                <a:solidFill>
                  <a:srgbClr val="2D7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rgbClr val="F3F7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7D5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536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Always 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120640" cy="566928"/>
          </a:xfrm>
          <a:prstGeom prst="rect">
            <a:avLst/>
          </a:prstGeom>
          <a:solidFill>
            <a:srgbClr val="F3F7F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Reserve terracotta for one primary action — its caption may share the hue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120640" cy="566928"/>
          </a:xfrm>
          <a:prstGeom prst="rect">
            <a:avLst/>
          </a:prstGeom>
          <a:solidFill>
            <a:srgbClr val="F3F7F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346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milestone green for completion, decided items &amp; urgency thresholds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120640" cy="566928"/>
          </a:xfrm>
          <a:prstGeom prst="rect">
            <a:avLst/>
          </a:prstGeom>
          <a:solidFill>
            <a:srgbClr val="F3F7F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04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the two-layer warm-charcoal shadow tokens, never a flat 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5120640" cy="566928"/>
          </a:xfrm>
          <a:prstGeom prst="rect">
            <a:avLst/>
          </a:prstGeom>
          <a:solidFill>
            <a:srgbClr val="F3F7F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Declutter and recolor any sourced illustration before use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5120640" cy="566928"/>
          </a:xfrm>
          <a:prstGeom prst="rect">
            <a:avLst/>
          </a:prstGeom>
          <a:solidFill>
            <a:srgbClr val="F3F7F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920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Keep a consistent 16px gap between a header and its content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508760"/>
            <a:ext cx="365760" cy="365760"/>
          </a:xfrm>
          <a:prstGeom prst="ellipse">
            <a:avLst/>
          </a:prstGeom>
          <a:solidFill>
            <a:srgbClr val="FBE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A5B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1536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do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2148840"/>
            <a:ext cx="5120640" cy="566928"/>
          </a:xfrm>
          <a:prstGeom prst="rect">
            <a:avLst/>
          </a:prstGeom>
          <a:solidFill>
            <a:srgbClr val="FBEEE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1488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use pure black or pure white for text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5120640" cy="566928"/>
          </a:xfrm>
          <a:prstGeom prst="rect">
            <a:avLst/>
          </a:prstGeom>
          <a:solidFill>
            <a:srgbClr val="FBEEE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28346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add a hex value that duplicates an existing token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520440"/>
            <a:ext cx="5120640" cy="566928"/>
          </a:xfrm>
          <a:prstGeom prst="rect">
            <a:avLst/>
          </a:prstGeom>
          <a:solidFill>
            <a:srgbClr val="FBEEEA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5204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introduce a shadow outside the three defined tokens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206240"/>
            <a:ext cx="5120640" cy="566928"/>
          </a:xfrm>
          <a:prstGeom prst="rect">
            <a:avLst/>
          </a:prstGeom>
          <a:solidFill>
            <a:srgbClr val="FBEEE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2062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let a category tint reuse the primary action color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4892040"/>
            <a:ext cx="5120640" cy="566928"/>
          </a:xfrm>
          <a:prstGeom prst="rect">
            <a:avLst/>
          </a:prstGeom>
          <a:solidFill>
            <a:srgbClr val="FBEEEA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48920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Never crowd an empty-state illustration — let it breathe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183112" y="6309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5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F0E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TripTogether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0" y="2788920"/>
            <a:ext cx="12188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better trips,
</a:t>
            </a:r>
            <a:pPr algn="ctr" indent="0" marL="0">
              <a:lnSpc>
                <a:spcPts val="4000"/>
              </a:lnSpc>
              <a:buNone/>
            </a:pPr>
            <a:r>
              <a:rPr lang="en-US" sz="3400" i="1" dirty="0">
                <a:solidFill>
                  <a:srgbClr val="AA5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together.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2026-08-24T10:49:26Z</dcterms:created>
  <dcterms:modified xsi:type="dcterms:W3CDTF">2026-08-24T10:49:26Z</dcterms:modified>
</cp:coreProperties>
</file>